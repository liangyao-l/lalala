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949440" cy="33832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36576"/>
            <a:ext cx="237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45720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Protocols for hPGCLC specification, maintenance and DE convergence.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85800"/>
            <a:ext cx="0" cy="365760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20040" y="4846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hPSCs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868680"/>
            <a:ext cx="5852160" cy="0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576071"/>
            <a:ext cx="15605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CA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777240"/>
            <a:ext cx="1560576" cy="0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77240" y="777240"/>
            <a:ext cx="0" cy="43891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337816" y="777240"/>
            <a:ext cx="0" cy="43891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410968" y="576071"/>
            <a:ext cx="42184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BMP + SCF + EGF</a:t>
            </a:r>
          </a:p>
        </p:txBody>
      </p:sp>
      <p:sp>
        <p:nvSpPr>
          <p:cNvPr id="12" name="Oval 11"/>
          <p:cNvSpPr/>
          <p:nvPr/>
        </p:nvSpPr>
        <p:spPr>
          <a:xfrm>
            <a:off x="1909267" y="830275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73352" y="941832"/>
            <a:ext cx="5486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0000"/>
                </a:solidFill>
                <a:latin typeface="Arial"/>
              </a:rPr>
              <a:t>1.5d</a:t>
            </a:r>
          </a:p>
        </p:txBody>
      </p:sp>
      <p:sp>
        <p:nvSpPr>
          <p:cNvPr id="14" name="Oval 13"/>
          <p:cNvSpPr/>
          <p:nvPr/>
        </p:nvSpPr>
        <p:spPr>
          <a:xfrm>
            <a:off x="2689555" y="830275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3640" y="941832"/>
            <a:ext cx="5486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0000"/>
                </a:solidFill>
                <a:latin typeface="Arial"/>
              </a:rPr>
              <a:t>2.5d</a:t>
            </a:r>
          </a:p>
        </p:txBody>
      </p:sp>
      <p:sp>
        <p:nvSpPr>
          <p:cNvPr id="16" name="Oval 15"/>
          <p:cNvSpPr/>
          <p:nvPr/>
        </p:nvSpPr>
        <p:spPr>
          <a:xfrm>
            <a:off x="3469843" y="830275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33928" y="941832"/>
            <a:ext cx="5486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0000"/>
                </a:solidFill>
                <a:latin typeface="Arial"/>
              </a:rPr>
              <a:t>3.5d</a:t>
            </a:r>
          </a:p>
        </p:txBody>
      </p:sp>
      <p:sp>
        <p:nvSpPr>
          <p:cNvPr id="18" name="Oval 17"/>
          <p:cNvSpPr/>
          <p:nvPr/>
        </p:nvSpPr>
        <p:spPr>
          <a:xfrm>
            <a:off x="4250131" y="830275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14215" y="941832"/>
            <a:ext cx="5486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0000"/>
                </a:solidFill>
                <a:latin typeface="Arial"/>
              </a:rPr>
              <a:t>4.5d</a:t>
            </a:r>
          </a:p>
        </p:txBody>
      </p:sp>
      <p:sp>
        <p:nvSpPr>
          <p:cNvPr id="20" name="Oval 19"/>
          <p:cNvSpPr/>
          <p:nvPr/>
        </p:nvSpPr>
        <p:spPr>
          <a:xfrm>
            <a:off x="5030419" y="830275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4504" y="941832"/>
            <a:ext cx="5486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0000"/>
                </a:solidFill>
                <a:latin typeface="Arial"/>
              </a:rPr>
              <a:t>5.5d</a:t>
            </a:r>
          </a:p>
        </p:txBody>
      </p:sp>
      <p:sp>
        <p:nvSpPr>
          <p:cNvPr id="22" name="Oval 21"/>
          <p:cNvSpPr/>
          <p:nvPr/>
        </p:nvSpPr>
        <p:spPr>
          <a:xfrm>
            <a:off x="5810707" y="830275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74792" y="941832"/>
            <a:ext cx="5486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0000"/>
                </a:solidFill>
                <a:latin typeface="Arial"/>
              </a:rPr>
              <a:t>6.5d</a:t>
            </a:r>
          </a:p>
        </p:txBody>
      </p:sp>
      <p:sp>
        <p:nvSpPr>
          <p:cNvPr id="24" name="Oval 23"/>
          <p:cNvSpPr/>
          <p:nvPr/>
        </p:nvSpPr>
        <p:spPr>
          <a:xfrm>
            <a:off x="6590995" y="830275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941832"/>
            <a:ext cx="5486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0000"/>
                </a:solidFill>
                <a:latin typeface="Arial"/>
              </a:rPr>
              <a:t>7.5d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947672" y="918057"/>
            <a:ext cx="0" cy="499263"/>
          </a:xfrm>
          <a:prstGeom prst="line">
            <a:avLst/>
          </a:prstGeom>
          <a:ln w="1397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47672" y="1417320"/>
            <a:ext cx="1560576" cy="0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15668" y="1385316"/>
            <a:ext cx="64008" cy="64008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1915668" y="1385316"/>
            <a:ext cx="64008" cy="64008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3469843" y="1378915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2727960" y="918057"/>
            <a:ext cx="0" cy="865023"/>
          </a:xfrm>
          <a:prstGeom prst="line">
            <a:avLst/>
          </a:prstGeom>
          <a:ln w="1397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727960" y="1783080"/>
            <a:ext cx="1560576" cy="0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695956" y="1751076"/>
            <a:ext cx="64008" cy="64008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2695956" y="1751076"/>
            <a:ext cx="64008" cy="64008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4250131" y="1744675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508248" y="918057"/>
            <a:ext cx="0" cy="1230783"/>
          </a:xfrm>
          <a:prstGeom prst="line">
            <a:avLst/>
          </a:prstGeom>
          <a:ln w="1397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508248" y="2148840"/>
            <a:ext cx="1560576" cy="0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476244" y="2116836"/>
            <a:ext cx="64008" cy="64008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476244" y="2116836"/>
            <a:ext cx="64008" cy="64008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5030419" y="2110435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4288536" y="918057"/>
            <a:ext cx="0" cy="1596543"/>
          </a:xfrm>
          <a:prstGeom prst="line">
            <a:avLst/>
          </a:prstGeom>
          <a:ln w="1397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288536" y="2514600"/>
            <a:ext cx="1560576" cy="0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256531" y="2482596"/>
            <a:ext cx="64009" cy="64008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256531" y="2482596"/>
            <a:ext cx="64009" cy="64008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5810707" y="2476195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5068824" y="918057"/>
            <a:ext cx="0" cy="1916583"/>
          </a:xfrm>
          <a:prstGeom prst="line">
            <a:avLst/>
          </a:prstGeom>
          <a:ln w="1397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068824" y="2834640"/>
            <a:ext cx="1560576" cy="0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036820" y="2802636"/>
            <a:ext cx="64008" cy="64008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036820" y="2802636"/>
            <a:ext cx="64008" cy="64008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590995" y="2796235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71907" y="3061411"/>
            <a:ext cx="58521" cy="58521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2608" y="3017520"/>
            <a:ext cx="1051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333333"/>
                </a:solidFill>
                <a:latin typeface="Arial"/>
              </a:rPr>
              <a:t>fix &amp; stain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71600" y="3017520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333333"/>
                </a:solidFill>
                <a:latin typeface="Arial"/>
              </a:rPr>
              <a:t>CA  CHIR + Activin A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898648" y="3063240"/>
            <a:ext cx="54864" cy="54863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898648" y="3063240"/>
            <a:ext cx="54864" cy="54863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3035808" y="2962656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333333"/>
                </a:solidFill>
                <a:latin typeface="Arial"/>
              </a:rPr>
              <a:t>Ecto  d0–2 SB+LDN    Meso  d1 CHIR+Activin A+FGF; d2 BMP+SB+FGF    Endo  FGF+Activin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