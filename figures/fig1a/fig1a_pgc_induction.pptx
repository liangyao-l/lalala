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949440" cy="36118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36576"/>
            <a:ext cx="237744" cy="219456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" y="45720"/>
            <a:ext cx="640080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hPGCLC induction and timed germ-layer competency assay.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77240" y="640080"/>
            <a:ext cx="0" cy="329184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20040" y="329184"/>
            <a:ext cx="914400" cy="164592"/>
          </a:xfrm>
          <a:prstGeom prst="rect">
            <a:avLst/>
          </a:prstGeom>
          <a:noFill/>
        </p:spPr>
        <p:txBody>
          <a:bodyPr wrap="none"/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hPSCs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804672"/>
            <a:ext cx="5852160" cy="0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77240" y="713232"/>
            <a:ext cx="390144" cy="0"/>
          </a:xfrm>
          <a:prstGeom prst="line">
            <a:avLst/>
          </a:prstGeom>
          <a:ln w="1397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77240" y="713232"/>
            <a:ext cx="0" cy="43891"/>
          </a:xfrm>
          <a:prstGeom prst="line">
            <a:avLst/>
          </a:prstGeom>
          <a:ln w="1397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67384" y="713232"/>
            <a:ext cx="0" cy="43891"/>
          </a:xfrm>
          <a:prstGeom prst="line">
            <a:avLst/>
          </a:prstGeom>
          <a:ln w="1397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19" y="493776"/>
            <a:ext cx="481583" cy="182880"/>
          </a:xfrm>
          <a:prstGeom prst="rect">
            <a:avLst/>
          </a:prstGeom>
          <a:noFill/>
        </p:spPr>
        <p:txBody>
          <a:bodyPr wrap="none"/>
          <a:lstStyle/>
          <a:p>
            <a:pPr algn="ctr"/>
            <a:r>
              <a:rPr sz="800" b="1">
                <a:solidFill>
                  <a:srgbClr val="000000"/>
                </a:solidFill>
                <a:latin typeface="Arial"/>
              </a:rPr>
              <a:t>CA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67384" y="713232"/>
            <a:ext cx="1560576" cy="0"/>
          </a:xfrm>
          <a:prstGeom prst="line">
            <a:avLst/>
          </a:prstGeom>
          <a:ln w="1397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67384" y="713232"/>
            <a:ext cx="0" cy="43891"/>
          </a:xfrm>
          <a:prstGeom prst="line">
            <a:avLst/>
          </a:prstGeom>
          <a:ln w="1397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727960" y="713232"/>
            <a:ext cx="0" cy="43891"/>
          </a:xfrm>
          <a:prstGeom prst="line">
            <a:avLst/>
          </a:prstGeom>
          <a:ln w="1397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121664" y="493776"/>
            <a:ext cx="1652016" cy="182880"/>
          </a:xfrm>
          <a:prstGeom prst="rect">
            <a:avLst/>
          </a:prstGeom>
          <a:noFill/>
        </p:spPr>
        <p:txBody>
          <a:bodyPr wrap="none"/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BMP4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73680" y="493776"/>
            <a:ext cx="3855720" cy="182880"/>
          </a:xfrm>
          <a:prstGeom prst="rect">
            <a:avLst/>
          </a:prstGeom>
          <a:noFill/>
        </p:spPr>
        <p:txBody>
          <a:bodyPr wrap="none"/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BMP + SCF + EGF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27960" y="713232"/>
            <a:ext cx="3901440" cy="0"/>
          </a:xfrm>
          <a:prstGeom prst="line">
            <a:avLst/>
          </a:prstGeom>
          <a:ln w="1397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27960" y="713232"/>
            <a:ext cx="0" cy="43891"/>
          </a:xfrm>
          <a:prstGeom prst="line">
            <a:avLst/>
          </a:prstGeom>
          <a:ln w="1397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629400" y="713232"/>
            <a:ext cx="0" cy="43891"/>
          </a:xfrm>
          <a:prstGeom prst="line">
            <a:avLst/>
          </a:prstGeom>
          <a:ln w="1397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1909267" y="766267"/>
            <a:ext cx="76809" cy="76809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 rot="18900000">
            <a:off x="1874520" y="859536"/>
            <a:ext cx="86868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50" b="0">
                <a:solidFill>
                  <a:srgbClr val="000000"/>
                </a:solidFill>
                <a:latin typeface="Arial"/>
              </a:rPr>
              <a:t>1.5 days</a:t>
            </a:r>
          </a:p>
        </p:txBody>
      </p:sp>
      <p:sp>
        <p:nvSpPr>
          <p:cNvPr id="21" name="Oval 20"/>
          <p:cNvSpPr/>
          <p:nvPr/>
        </p:nvSpPr>
        <p:spPr>
          <a:xfrm>
            <a:off x="2689555" y="766267"/>
            <a:ext cx="76809" cy="76809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 rot="18900000">
            <a:off x="2654808" y="859536"/>
            <a:ext cx="86868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50" b="0">
                <a:solidFill>
                  <a:srgbClr val="000000"/>
                </a:solidFill>
                <a:latin typeface="Arial"/>
              </a:rPr>
              <a:t>2.5 days</a:t>
            </a:r>
          </a:p>
        </p:txBody>
      </p:sp>
      <p:sp>
        <p:nvSpPr>
          <p:cNvPr id="23" name="Oval 22"/>
          <p:cNvSpPr/>
          <p:nvPr/>
        </p:nvSpPr>
        <p:spPr>
          <a:xfrm>
            <a:off x="3469843" y="766267"/>
            <a:ext cx="76809" cy="76809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 rot="18900000">
            <a:off x="3435096" y="859536"/>
            <a:ext cx="86868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50" b="0">
                <a:solidFill>
                  <a:srgbClr val="000000"/>
                </a:solidFill>
                <a:latin typeface="Arial"/>
              </a:rPr>
              <a:t>3.5 days</a:t>
            </a:r>
          </a:p>
        </p:txBody>
      </p:sp>
      <p:sp>
        <p:nvSpPr>
          <p:cNvPr id="25" name="Oval 24"/>
          <p:cNvSpPr/>
          <p:nvPr/>
        </p:nvSpPr>
        <p:spPr>
          <a:xfrm>
            <a:off x="4250131" y="766267"/>
            <a:ext cx="76809" cy="76809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 rot="18900000">
            <a:off x="4215383" y="859536"/>
            <a:ext cx="86868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50" b="0">
                <a:solidFill>
                  <a:srgbClr val="000000"/>
                </a:solidFill>
                <a:latin typeface="Arial"/>
              </a:rPr>
              <a:t>4.5 days</a:t>
            </a:r>
          </a:p>
        </p:txBody>
      </p:sp>
      <p:sp>
        <p:nvSpPr>
          <p:cNvPr id="27" name="Oval 26"/>
          <p:cNvSpPr/>
          <p:nvPr/>
        </p:nvSpPr>
        <p:spPr>
          <a:xfrm>
            <a:off x="5030419" y="766267"/>
            <a:ext cx="76809" cy="76809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 rot="18900000">
            <a:off x="4995672" y="859536"/>
            <a:ext cx="86868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50" b="0">
                <a:solidFill>
                  <a:srgbClr val="000000"/>
                </a:solidFill>
                <a:latin typeface="Arial"/>
              </a:rPr>
              <a:t>5.5 days</a:t>
            </a:r>
          </a:p>
        </p:txBody>
      </p:sp>
      <p:sp>
        <p:nvSpPr>
          <p:cNvPr id="29" name="Oval 28"/>
          <p:cNvSpPr/>
          <p:nvPr/>
        </p:nvSpPr>
        <p:spPr>
          <a:xfrm>
            <a:off x="5810707" y="766267"/>
            <a:ext cx="76809" cy="76809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 rot="18900000">
            <a:off x="5775960" y="859536"/>
            <a:ext cx="86868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50" b="0">
                <a:solidFill>
                  <a:srgbClr val="000000"/>
                </a:solidFill>
                <a:latin typeface="Arial"/>
              </a:rPr>
              <a:t>6.5 days</a:t>
            </a:r>
          </a:p>
        </p:txBody>
      </p:sp>
      <p:sp>
        <p:nvSpPr>
          <p:cNvPr id="31" name="Oval 30"/>
          <p:cNvSpPr/>
          <p:nvPr/>
        </p:nvSpPr>
        <p:spPr>
          <a:xfrm>
            <a:off x="6590995" y="766267"/>
            <a:ext cx="76809" cy="76809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 rot="18900000">
            <a:off x="6556248" y="859536"/>
            <a:ext cx="86868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50" b="0">
                <a:solidFill>
                  <a:srgbClr val="000000"/>
                </a:solidFill>
                <a:latin typeface="Arial"/>
              </a:rPr>
              <a:t>7.5 days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947672" y="854049"/>
            <a:ext cx="0" cy="837591"/>
          </a:xfrm>
          <a:prstGeom prst="line">
            <a:avLst/>
          </a:prstGeom>
          <a:ln w="1397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947672" y="1691640"/>
            <a:ext cx="1560576" cy="0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915668" y="1659636"/>
            <a:ext cx="64008" cy="64008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915668" y="1659636"/>
            <a:ext cx="64008" cy="64008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3469843" y="1653235"/>
            <a:ext cx="76809" cy="76809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2727960" y="854049"/>
            <a:ext cx="0" cy="1175919"/>
          </a:xfrm>
          <a:prstGeom prst="line">
            <a:avLst/>
          </a:prstGeom>
          <a:ln w="1397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727960" y="2029968"/>
            <a:ext cx="1560576" cy="0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695956" y="1997964"/>
            <a:ext cx="64008" cy="64008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95956" y="1997964"/>
            <a:ext cx="64008" cy="64008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4250131" y="1991563"/>
            <a:ext cx="76809" cy="76809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3508248" y="854049"/>
            <a:ext cx="0" cy="1514247"/>
          </a:xfrm>
          <a:prstGeom prst="line">
            <a:avLst/>
          </a:prstGeom>
          <a:ln w="1397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508248" y="2368296"/>
            <a:ext cx="1560576" cy="0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3476244" y="2336291"/>
            <a:ext cx="64008" cy="64009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476244" y="2336291"/>
            <a:ext cx="64008" cy="64009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5030419" y="2329891"/>
            <a:ext cx="76809" cy="76809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4288536" y="854049"/>
            <a:ext cx="0" cy="1852575"/>
          </a:xfrm>
          <a:prstGeom prst="line">
            <a:avLst/>
          </a:prstGeom>
          <a:ln w="1397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288536" y="2706624"/>
            <a:ext cx="1560576" cy="0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256531" y="2674620"/>
            <a:ext cx="64009" cy="64008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4256531" y="2674620"/>
            <a:ext cx="64009" cy="64008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5810707" y="2668219"/>
            <a:ext cx="76809" cy="76809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5068824" y="854049"/>
            <a:ext cx="0" cy="2163471"/>
          </a:xfrm>
          <a:prstGeom prst="line">
            <a:avLst/>
          </a:prstGeom>
          <a:ln w="1397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068824" y="3017520"/>
            <a:ext cx="1560576" cy="0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036820" y="2985515"/>
            <a:ext cx="64008" cy="64009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036820" y="2985515"/>
            <a:ext cx="64008" cy="64009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6590995" y="2979115"/>
            <a:ext cx="76809" cy="76809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71907" y="3271723"/>
            <a:ext cx="58521" cy="58521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2608" y="3227832"/>
            <a:ext cx="960120" cy="16459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 b="0">
                <a:solidFill>
                  <a:srgbClr val="333333"/>
                </a:solidFill>
                <a:latin typeface="Arial"/>
              </a:rPr>
              <a:t>fix &amp; stain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280160" y="3227832"/>
            <a:ext cx="1234440" cy="16459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 b="0">
                <a:solidFill>
                  <a:srgbClr val="333333"/>
                </a:solidFill>
                <a:latin typeface="Arial"/>
              </a:rPr>
              <a:t>CA  CHIR + Activin 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3227832"/>
            <a:ext cx="640080" cy="164592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 b="1">
                <a:solidFill>
                  <a:srgbClr val="333333"/>
                </a:solidFill>
                <a:latin typeface="Arial"/>
              </a:rPr>
              <a:t>BMP4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3310128" y="3273552"/>
            <a:ext cx="54863" cy="54863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310128" y="3273552"/>
            <a:ext cx="54863" cy="54863"/>
          </a:xfrm>
          <a:prstGeom prst="line">
            <a:avLst/>
          </a:prstGeom>
          <a:ln w="18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3447288" y="3172968"/>
            <a:ext cx="3383280" cy="36576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 b="0">
                <a:solidFill>
                  <a:srgbClr val="333333"/>
                </a:solidFill>
                <a:latin typeface="Arial"/>
              </a:rPr>
              <a:t>Ecto  d0–2 SB+LDN    Meso  d1 CHIR+Activin A+FGF; d2 BMP+SB+FGF    Endo  FGF+Activin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